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3" r:id="rId4"/>
    <p:sldId id="259" r:id="rId5"/>
    <p:sldId id="268" r:id="rId6"/>
    <p:sldId id="26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754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0406-6C44-0F0C-48B8-888EF0FB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791C7-BABC-7FB6-855C-5E9D7DA33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10827-3DF6-4086-C319-F433F125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FDC80-B773-5358-E76F-1A5DBA71C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8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A95C-A2AF-A341-C1C3-0520F77E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A694A-1D95-E10D-C540-A320C1F13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EDB3B-4902-DA25-E054-A22421A1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A2ED-CD2A-26E0-CA73-C5A97E752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1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3DA7-F8CE-C150-D0CE-BCC1113A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29CAB-057A-22DE-E074-996C1B81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A29C5-17D0-F62B-C7B2-08ABCD80F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D151F-5EE1-C2E2-EAC3-5C2B94F6B4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51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9B6D-190B-7BA3-2411-B4F5626F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7E3E5-A2C6-DD74-5853-CC63FD07F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AD4DC-170A-E5E2-6B4E-B8A47469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5C25-4941-266B-743F-D26DA2968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12" Type="http://schemas.openxmlformats.org/officeDocument/2006/relationships/image" Target="../media/image9.JP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8.jp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hyperlink" Target="https://github.com/pramendraindian/movie-agent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github.com/pramendraindian/movie-agent/blob/main/README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ramendraindian/movie-agen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F840273-607E-E687-1E05-27A0F16C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64" y="73815"/>
            <a:ext cx="8279522" cy="343788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48704" y="1134114"/>
            <a:ext cx="4205591" cy="559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CineGenie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48704" y="1590929"/>
            <a:ext cx="5178357" cy="559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. Discover . Watch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48704" y="2051918"/>
            <a:ext cx="5705662" cy="555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Architecture · Intent Classification · LLM Fallback · TMDB Integration</a:t>
            </a:r>
            <a:endParaRPr lang="en-US" sz="140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F329B589-9821-B525-2342-60DEF7653A2C}"/>
              </a:ext>
            </a:extLst>
          </p:cNvPr>
          <p:cNvSpPr/>
          <p:nvPr/>
        </p:nvSpPr>
        <p:spPr>
          <a:xfrm flipH="1">
            <a:off x="4802070" y="3714310"/>
            <a:ext cx="416683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</a:t>
            </a: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https://github.com/pramendraindian/movie-agent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4F066-FB5E-221F-8026-E21BFEB05DAB}"/>
              </a:ext>
            </a:extLst>
          </p:cNvPr>
          <p:cNvSpPr txBox="1"/>
          <p:nvPr/>
        </p:nvSpPr>
        <p:spPr>
          <a:xfrm>
            <a:off x="175098" y="3660281"/>
            <a:ext cx="18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F8F8F6"/>
                </a:solidFill>
                <a:effectLst/>
                <a:latin typeface="Anthropic Sans"/>
              </a:rPr>
              <a:t>Contributors: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1BB4E9-A2E9-0635-382C-82D17ED7B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5" y="3953361"/>
            <a:ext cx="684245" cy="7361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749145-88CE-F9AA-FCD7-5F3CDD979F0E}"/>
              </a:ext>
            </a:extLst>
          </p:cNvPr>
          <p:cNvSpPr txBox="1"/>
          <p:nvPr/>
        </p:nvSpPr>
        <p:spPr>
          <a:xfrm>
            <a:off x="161736" y="4633874"/>
            <a:ext cx="7564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 err="1">
                <a:solidFill>
                  <a:srgbClr val="F8F8F6"/>
                </a:solidFill>
                <a:latin typeface="Anthropic Sans"/>
              </a:rPr>
              <a:t>Pramendra</a:t>
            </a:r>
            <a:r>
              <a:rPr lang="en-IN" sz="700" dirty="0">
                <a:solidFill>
                  <a:srgbClr val="F8F8F6"/>
                </a:solidFill>
                <a:latin typeface="Anthropic Sans"/>
              </a:rPr>
              <a:t>  Prabhakar Singh</a:t>
            </a:r>
            <a:endParaRPr lang="en-IN" sz="700" b="0" i="0" dirty="0">
              <a:solidFill>
                <a:srgbClr val="F8F8F6"/>
              </a:solidFill>
              <a:effectLst/>
              <a:latin typeface="Anthropic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2705C7-1BE5-F723-3955-E3A038C60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194" y="3953698"/>
            <a:ext cx="640307" cy="7514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7D3E26-0E81-0EAC-9366-651B32C0DC04}"/>
              </a:ext>
            </a:extLst>
          </p:cNvPr>
          <p:cNvSpPr txBox="1"/>
          <p:nvPr/>
        </p:nvSpPr>
        <p:spPr>
          <a:xfrm>
            <a:off x="822693" y="4674671"/>
            <a:ext cx="777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 err="1">
                <a:solidFill>
                  <a:srgbClr val="F8F8F6"/>
                </a:solidFill>
                <a:latin typeface="Anthropic Sans"/>
              </a:rPr>
              <a:t>Monikongkona</a:t>
            </a:r>
            <a:r>
              <a:rPr lang="en-IN" sz="700" dirty="0">
                <a:solidFill>
                  <a:srgbClr val="F8F8F6"/>
                </a:solidFill>
                <a:latin typeface="Anthropic Sans"/>
              </a:rPr>
              <a:t> Hazarika</a:t>
            </a:r>
            <a:endParaRPr lang="en-IN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EAF97-BCF0-83D3-785E-9F24647FAB9D}"/>
              </a:ext>
            </a:extLst>
          </p:cNvPr>
          <p:cNvSpPr txBox="1"/>
          <p:nvPr/>
        </p:nvSpPr>
        <p:spPr>
          <a:xfrm>
            <a:off x="1568355" y="4680552"/>
            <a:ext cx="747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b="0" i="0" dirty="0">
                <a:solidFill>
                  <a:srgbClr val="F8F8F6"/>
                </a:solidFill>
                <a:effectLst/>
                <a:latin typeface="Anthropic Sans"/>
              </a:rPr>
              <a:t> </a:t>
            </a:r>
            <a:r>
              <a:rPr lang="en-IN" sz="700" dirty="0">
                <a:solidFill>
                  <a:srgbClr val="F8F8F6"/>
                </a:solidFill>
                <a:latin typeface="Anthropic Sans"/>
              </a:rPr>
              <a:t>Shashank Srivastava</a:t>
            </a:r>
            <a:endParaRPr lang="en-IN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BB7301-FB71-1B54-B5CD-3C61D905AA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653" y="3948532"/>
            <a:ext cx="649096" cy="752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F5CEBC-F385-5959-3365-99A18F6F6A38}"/>
              </a:ext>
            </a:extLst>
          </p:cNvPr>
          <p:cNvSpPr txBox="1"/>
          <p:nvPr/>
        </p:nvSpPr>
        <p:spPr>
          <a:xfrm>
            <a:off x="2151703" y="4734412"/>
            <a:ext cx="69885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solidFill>
                  <a:srgbClr val="F8F8F6"/>
                </a:solidFill>
                <a:latin typeface="Anthropic Sans"/>
              </a:rPr>
              <a:t>Arpit Dwivedi</a:t>
            </a:r>
            <a:endParaRPr lang="en-IN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9557DA9-21CA-F34F-131F-E6C6560F6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323" y="3983339"/>
            <a:ext cx="651864" cy="752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F892775-192E-5F3E-5495-AF4C224BD629}"/>
              </a:ext>
            </a:extLst>
          </p:cNvPr>
          <p:cNvSpPr txBox="1"/>
          <p:nvPr/>
        </p:nvSpPr>
        <p:spPr>
          <a:xfrm>
            <a:off x="3576872" y="4700835"/>
            <a:ext cx="6066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solidFill>
                  <a:srgbClr val="F8F8F6"/>
                </a:solidFill>
                <a:latin typeface="Anthropic Sans"/>
              </a:rPr>
              <a:t>⁠Sajith K N</a:t>
            </a:r>
            <a:endParaRPr lang="en-IN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7EFE474-9467-338B-386B-4C59B9CC3C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107" y="3975041"/>
            <a:ext cx="646574" cy="7514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7079B0B-373A-54D0-8BAE-06C174BF689F}"/>
              </a:ext>
            </a:extLst>
          </p:cNvPr>
          <p:cNvSpPr txBox="1"/>
          <p:nvPr/>
        </p:nvSpPr>
        <p:spPr>
          <a:xfrm>
            <a:off x="4131114" y="4699571"/>
            <a:ext cx="9734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solidFill>
                  <a:srgbClr val="F8F8F6"/>
                </a:solidFill>
                <a:latin typeface="Anthropic Sans"/>
              </a:rPr>
              <a:t>Sujit Kumar </a:t>
            </a:r>
            <a:r>
              <a:rPr lang="en-IN" sz="600" dirty="0">
                <a:solidFill>
                  <a:schemeClr val="bg1"/>
                </a:solidFill>
              </a:rPr>
              <a:t>sandilya.sujit@gmail.com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340076B-2D31-5F5F-248F-DB1E3567B9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6355" y="3974135"/>
            <a:ext cx="675513" cy="752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2AE3581-ED71-C4F3-72D1-7ABB07F54214}"/>
              </a:ext>
            </a:extLst>
          </p:cNvPr>
          <p:cNvSpPr txBox="1"/>
          <p:nvPr/>
        </p:nvSpPr>
        <p:spPr>
          <a:xfrm>
            <a:off x="4927147" y="4708414"/>
            <a:ext cx="71483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b="0" i="0" dirty="0">
                <a:solidFill>
                  <a:srgbClr val="F8F8F6"/>
                </a:solidFill>
                <a:effectLst/>
                <a:latin typeface="Anthropic Sans"/>
              </a:rPr>
              <a:t>Shahnawaz</a:t>
            </a:r>
            <a:endParaRPr lang="en-IN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34CAC-669B-EDE7-3EFE-8305AC7D16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8542" y="3985157"/>
            <a:ext cx="640571" cy="73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C28FF8-63C5-CEA2-DEEC-203C1B65A094}"/>
              </a:ext>
            </a:extLst>
          </p:cNvPr>
          <p:cNvSpPr txBox="1"/>
          <p:nvPr/>
        </p:nvSpPr>
        <p:spPr>
          <a:xfrm>
            <a:off x="5501129" y="4694434"/>
            <a:ext cx="9159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b="0" i="0" dirty="0" err="1">
                <a:solidFill>
                  <a:srgbClr val="F8F8F6"/>
                </a:solidFill>
                <a:effectLst/>
                <a:latin typeface="Anthropic Sans"/>
              </a:rPr>
              <a:t>Subhasis</a:t>
            </a:r>
            <a:r>
              <a:rPr lang="en-IN" sz="700" b="0" i="0" dirty="0">
                <a:solidFill>
                  <a:srgbClr val="F8F8F6"/>
                </a:solidFill>
                <a:effectLst/>
                <a:latin typeface="Anthropic Sans"/>
              </a:rPr>
              <a:t> Mishra</a:t>
            </a:r>
            <a:endParaRPr lang="en-IN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2AD6439-BD08-4BCD-B334-0BA4742165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8881" y="3989038"/>
            <a:ext cx="705999" cy="752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6C1E357-BEB4-4C5D-8573-1772F5A74837}"/>
              </a:ext>
            </a:extLst>
          </p:cNvPr>
          <p:cNvSpPr txBox="1"/>
          <p:nvPr/>
        </p:nvSpPr>
        <p:spPr>
          <a:xfrm>
            <a:off x="6208659" y="4700835"/>
            <a:ext cx="80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F8F8F6"/>
                </a:solidFill>
                <a:latin typeface="Anthropic Sans"/>
              </a:rPr>
              <a:t>Neerja Nawal</a:t>
            </a:r>
            <a:endParaRPr lang="en-IN" sz="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0C3106-8D78-13E9-4FC5-49F9AD28CC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7501" y="3948532"/>
            <a:ext cx="649097" cy="7618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9C317E-B8D3-CD74-B88F-BF0B56F489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4416" y="3979612"/>
            <a:ext cx="752400" cy="7618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5B93484-89E2-2DC8-6232-C88082A05E2D}"/>
              </a:ext>
            </a:extLst>
          </p:cNvPr>
          <p:cNvSpPr txBox="1"/>
          <p:nvPr/>
        </p:nvSpPr>
        <p:spPr>
          <a:xfrm>
            <a:off x="6998406" y="4716061"/>
            <a:ext cx="801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 err="1">
                <a:solidFill>
                  <a:srgbClr val="F8F8F6"/>
                </a:solidFill>
                <a:latin typeface="Anthropic Sans"/>
              </a:rPr>
              <a:t>Vijaysandeep</a:t>
            </a:r>
            <a:r>
              <a:rPr lang="en-US" sz="700" dirty="0">
                <a:solidFill>
                  <a:srgbClr val="F8F8F6"/>
                </a:solidFill>
                <a:latin typeface="Anthropic Sans"/>
              </a:rPr>
              <a:t> </a:t>
            </a:r>
            <a:r>
              <a:rPr lang="en-US" sz="700" dirty="0" err="1">
                <a:solidFill>
                  <a:srgbClr val="F8F8F6"/>
                </a:solidFill>
                <a:latin typeface="Anthropic Sans"/>
              </a:rPr>
              <a:t>Gabbur</a:t>
            </a:r>
            <a:endParaRPr lang="en-IN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B601AD-AF08-74F3-64BE-FDEEF1F0DF01}"/>
              </a:ext>
            </a:extLst>
          </p:cNvPr>
          <p:cNvSpPr txBox="1"/>
          <p:nvPr/>
        </p:nvSpPr>
        <p:spPr>
          <a:xfrm>
            <a:off x="7706398" y="4708414"/>
            <a:ext cx="8011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Devesh Joshi</a:t>
            </a:r>
            <a:endParaRPr lang="en-IN" sz="700" dirty="0">
              <a:solidFill>
                <a:schemeClr val="bg1"/>
              </a:solidFill>
            </a:endParaRPr>
          </a:p>
          <a:p>
            <a:r>
              <a:rPr lang="en-US" sz="800" dirty="0"/>
              <a:t>h</a:t>
            </a:r>
            <a:endParaRPr lang="en-IN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E3336A-5B98-700E-95B0-D38F0FCDC6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7356" y="3978626"/>
            <a:ext cx="717167" cy="74396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AFF5FB1-9981-09E8-CC3F-CF17A1AB02D7}"/>
              </a:ext>
            </a:extLst>
          </p:cNvPr>
          <p:cNvSpPr txBox="1"/>
          <p:nvPr/>
        </p:nvSpPr>
        <p:spPr>
          <a:xfrm>
            <a:off x="8337780" y="4722592"/>
            <a:ext cx="905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F8F8F6"/>
                </a:solidFill>
                <a:latin typeface="Anthropic Sans"/>
              </a:rPr>
              <a:t>Bharat Bhushan Sharma</a:t>
            </a:r>
            <a:endParaRPr lang="en-IN" sz="7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2623B8A-C368-EC97-6091-249E953648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06398" y="3978626"/>
            <a:ext cx="671793" cy="7618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BF11D0E-5AE7-3014-FC78-A1570A214155}"/>
              </a:ext>
            </a:extLst>
          </p:cNvPr>
          <p:cNvSpPr txBox="1"/>
          <p:nvPr/>
        </p:nvSpPr>
        <p:spPr>
          <a:xfrm>
            <a:off x="3912875" y="3670849"/>
            <a:ext cx="18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F8F8F6"/>
                </a:solidFill>
                <a:effectLst/>
                <a:latin typeface="Anthropic Sans"/>
              </a:rPr>
              <a:t>Source Code: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E5694CE-00FE-B162-BD33-58A239A3B48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50010" y="3960167"/>
            <a:ext cx="709946" cy="77548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4BC57A3-1145-A589-351D-6D803CA69543}"/>
              </a:ext>
            </a:extLst>
          </p:cNvPr>
          <p:cNvSpPr txBox="1"/>
          <p:nvPr/>
        </p:nvSpPr>
        <p:spPr>
          <a:xfrm>
            <a:off x="2866949" y="4788274"/>
            <a:ext cx="64705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solidFill>
                  <a:srgbClr val="F8F8F6"/>
                </a:solidFill>
                <a:latin typeface="Anthropic Sans"/>
              </a:rPr>
              <a:t>⁠Sunny Surve</a:t>
            </a:r>
            <a:endParaRPr lang="en-IN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A77D3-2888-806E-9543-8C0E11B4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CD2DD8D9-D9FD-B267-1574-3076BE6ACCA3}"/>
              </a:ext>
            </a:extLst>
          </p:cNvPr>
          <p:cNvSpPr/>
          <p:nvPr/>
        </p:nvSpPr>
        <p:spPr>
          <a:xfrm>
            <a:off x="1005840" y="347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16AA38-19EB-CD31-2C27-98BF554445A4}"/>
              </a:ext>
            </a:extLst>
          </p:cNvPr>
          <p:cNvSpPr/>
          <p:nvPr/>
        </p:nvSpPr>
        <p:spPr>
          <a:xfrm>
            <a:off x="960120" y="779526"/>
            <a:ext cx="34747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5B541267-AF08-FD03-26A5-C22FAFF5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80" y="2387918"/>
            <a:ext cx="502920" cy="50292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BEBA0C75-4F7A-87A2-7F08-394651974DEA}"/>
              </a:ext>
            </a:extLst>
          </p:cNvPr>
          <p:cNvSpPr/>
          <p:nvPr/>
        </p:nvSpPr>
        <p:spPr>
          <a:xfrm>
            <a:off x="5113021" y="2490597"/>
            <a:ext cx="277367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C4633FEB-23ED-89E1-FBD4-126C9B568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19882"/>
              </p:ext>
            </p:extLst>
          </p:nvPr>
        </p:nvGraphicFramePr>
        <p:xfrm>
          <a:off x="5074920" y="2948940"/>
          <a:ext cx="3977640" cy="2148840"/>
        </p:xfrm>
        <a:graphic>
          <a:graphicData uri="http://schemas.openxmlformats.org/drawingml/2006/table">
            <a:tbl>
              <a:tblPr/>
              <a:tblGrid>
                <a:gridCol w="152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/ TMDB API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TMDB Movies 2023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930,000+ movies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+ API calls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Genre, Rating, Popularity, Overview, Keywords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Deduplicate, fill nulls, normalize numerics, filter invalid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C046F4F-0D9E-98A4-7219-C269D5748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"/>
            <a:ext cx="449579" cy="4495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728971-7DB0-1612-D304-C0764F88ABF6}"/>
              </a:ext>
            </a:extLst>
          </p:cNvPr>
          <p:cNvSpPr txBox="1"/>
          <p:nvPr/>
        </p:nvSpPr>
        <p:spPr>
          <a:xfrm>
            <a:off x="5074919" y="411480"/>
            <a:ext cx="39700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 with decision fatigue when choosing from 500,000+ movies, as current tools lack intent understanding, genre/context awareness, and a unified interface for natural language and smart recommendations.</a:t>
            </a:r>
            <a:endParaRPr lang="en-US" sz="1050" dirty="0">
              <a:solidFill>
                <a:srgbClr val="A8DA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53AC8E1-6EA1-CD7A-C6F2-B7D2508EF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809" y="1215807"/>
            <a:ext cx="489204" cy="4892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D02B2C-0A0A-7C3A-CB71-97FB16AF8546}"/>
              </a:ext>
            </a:extLst>
          </p:cNvPr>
          <p:cNvSpPr txBox="1"/>
          <p:nvPr/>
        </p:nvSpPr>
        <p:spPr>
          <a:xfrm>
            <a:off x="5074920" y="76515"/>
            <a:ext cx="3063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2ECE50-45BD-B30C-1E3C-A58FAD3B42C1}"/>
              </a:ext>
            </a:extLst>
          </p:cNvPr>
          <p:cNvSpPr txBox="1"/>
          <p:nvPr/>
        </p:nvSpPr>
        <p:spPr>
          <a:xfrm>
            <a:off x="5067300" y="122629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Statement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9DAE27-CB28-1E7F-077C-F7D46159BC98}"/>
              </a:ext>
            </a:extLst>
          </p:cNvPr>
          <p:cNvSpPr txBox="1"/>
          <p:nvPr/>
        </p:nvSpPr>
        <p:spPr>
          <a:xfrm>
            <a:off x="5065013" y="1615607"/>
            <a:ext cx="374903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movie discovery platform that uses natural language with genre‑ and context‑aware dialogue to deliver smart, personalized recommendations and eliminate decision fatigue.</a:t>
            </a:r>
            <a:endParaRPr lang="en-US" sz="1050" dirty="0">
              <a:solidFill>
                <a:srgbClr val="A8DA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4FA5A-5370-6201-6226-C5BAF9385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8" y="111458"/>
            <a:ext cx="4451471" cy="42058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316B57-8C51-B105-6F07-11C19EEC48D3}"/>
              </a:ext>
            </a:extLst>
          </p:cNvPr>
          <p:cNvSpPr txBox="1"/>
          <p:nvPr/>
        </p:nvSpPr>
        <p:spPr>
          <a:xfrm>
            <a:off x="116716" y="4259374"/>
            <a:ext cx="4337173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endParaRPr lang="en-IN" sz="1000" dirty="0">
              <a:solidFill>
                <a:srgbClr val="00B0F0"/>
              </a:solidFill>
            </a:endParaRPr>
          </a:p>
          <a:p>
            <a:pPr algn="ctr"/>
            <a:r>
              <a:rPr lang="en-US" sz="1000" dirty="0">
                <a:solidFill>
                  <a:srgbClr val="00B0F0"/>
                </a:solidFill>
                <a:hlinkClick r:id="rId7"/>
              </a:rPr>
              <a:t>For more details, click here  ...</a:t>
            </a:r>
            <a:endParaRPr lang="en-IN" sz="1000" dirty="0">
              <a:solidFill>
                <a:srgbClr val="00B0F0"/>
              </a:solidFill>
            </a:endParaRPr>
          </a:p>
          <a:p>
            <a:endParaRPr lang="en-IN" sz="1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91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B3C3D-D723-308D-98FB-5F0AE2E6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4BA0E9-C90E-AFE9-08B9-D544388C005D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Architecture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A076C-E7B1-05D5-65F6-41AD4EF38C81}"/>
              </a:ext>
            </a:extLst>
          </p:cNvPr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5E6215F-D919-BA90-BF7E-FE7CC87D50BD}"/>
              </a:ext>
            </a:extLst>
          </p:cNvPr>
          <p:cNvSpPr/>
          <p:nvPr/>
        </p:nvSpPr>
        <p:spPr>
          <a:xfrm>
            <a:off x="1005840" y="1207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9FE196-97D1-5AE4-CD31-D776C7D6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38" y="768096"/>
            <a:ext cx="6712783" cy="3604042"/>
          </a:xfrm>
          <a:prstGeom prst="rect">
            <a:avLst/>
          </a:prstGeom>
        </p:spPr>
      </p:pic>
      <p:sp>
        <p:nvSpPr>
          <p:cNvPr id="42" name="Shape 5">
            <a:extLst>
              <a:ext uri="{FF2B5EF4-FFF2-40B4-BE49-F238E27FC236}">
                <a16:creationId xmlns:a16="http://schemas.microsoft.com/office/drawing/2014/main" id="{90DB9CBB-F828-0DB0-62C4-AB339142C877}"/>
              </a:ext>
            </a:extLst>
          </p:cNvPr>
          <p:cNvSpPr/>
          <p:nvPr/>
        </p:nvSpPr>
        <p:spPr>
          <a:xfrm>
            <a:off x="104248" y="783529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08503A0-5641-9C3E-EC7E-C282416BB9DA}"/>
              </a:ext>
            </a:extLst>
          </p:cNvPr>
          <p:cNvSpPr/>
          <p:nvPr/>
        </p:nvSpPr>
        <p:spPr>
          <a:xfrm>
            <a:off x="556259" y="847676"/>
            <a:ext cx="906781" cy="4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C795FAB2-B182-B7FB-A3CC-25E0E8DA49FB}"/>
              </a:ext>
            </a:extLst>
          </p:cNvPr>
          <p:cNvSpPr/>
          <p:nvPr/>
        </p:nvSpPr>
        <p:spPr>
          <a:xfrm>
            <a:off x="236219" y="1151283"/>
            <a:ext cx="1525135" cy="30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54890BD7-079B-9F72-FFB7-7FEA34FFB72A}"/>
              </a:ext>
            </a:extLst>
          </p:cNvPr>
          <p:cNvSpPr/>
          <p:nvPr/>
        </p:nvSpPr>
        <p:spPr>
          <a:xfrm>
            <a:off x="104248" y="1732496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F11AD60F-CD7A-ACD8-9416-AD32DADAC2CD}"/>
              </a:ext>
            </a:extLst>
          </p:cNvPr>
          <p:cNvSpPr/>
          <p:nvPr/>
        </p:nvSpPr>
        <p:spPr>
          <a:xfrm>
            <a:off x="104248" y="1658498"/>
            <a:ext cx="1861711" cy="68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1EEEEC85-3398-87AE-AB65-F691710E62B5}"/>
              </a:ext>
            </a:extLst>
          </p:cNvPr>
          <p:cNvSpPr/>
          <p:nvPr/>
        </p:nvSpPr>
        <p:spPr>
          <a:xfrm>
            <a:off x="104248" y="2130551"/>
            <a:ext cx="1920240" cy="26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Model</a:t>
            </a:r>
            <a:endParaRPr lang="en-US" sz="10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084B4199-5718-9139-DBA0-C0B2F950395F}"/>
              </a:ext>
            </a:extLst>
          </p:cNvPr>
          <p:cNvSpPr/>
          <p:nvPr/>
        </p:nvSpPr>
        <p:spPr>
          <a:xfrm>
            <a:off x="104248" y="2643615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28380BB8-E124-6E8D-3C29-15F36904563B}"/>
              </a:ext>
            </a:extLst>
          </p:cNvPr>
          <p:cNvSpPr/>
          <p:nvPr/>
        </p:nvSpPr>
        <p:spPr>
          <a:xfrm>
            <a:off x="45720" y="2682240"/>
            <a:ext cx="197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b="1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68BFC962-F2A4-E77F-C268-419656C73E1A}"/>
              </a:ext>
            </a:extLst>
          </p:cNvPr>
          <p:cNvSpPr/>
          <p:nvPr/>
        </p:nvSpPr>
        <p:spPr>
          <a:xfrm>
            <a:off x="104248" y="3001518"/>
            <a:ext cx="1861711" cy="24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8CC44486-2B04-F46C-9E3F-C66D275921A8}"/>
              </a:ext>
            </a:extLst>
          </p:cNvPr>
          <p:cNvSpPr/>
          <p:nvPr/>
        </p:nvSpPr>
        <p:spPr>
          <a:xfrm>
            <a:off x="104248" y="3582731"/>
            <a:ext cx="1920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2319F2FD-D31B-B8A2-C267-D5BB819EF520}"/>
              </a:ext>
            </a:extLst>
          </p:cNvPr>
          <p:cNvSpPr/>
          <p:nvPr/>
        </p:nvSpPr>
        <p:spPr>
          <a:xfrm>
            <a:off x="45720" y="3655264"/>
            <a:ext cx="19202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4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548A91EA-96AA-9F54-BC97-99783ED52564}"/>
              </a:ext>
            </a:extLst>
          </p:cNvPr>
          <p:cNvSpPr/>
          <p:nvPr/>
        </p:nvSpPr>
        <p:spPr>
          <a:xfrm>
            <a:off x="45720" y="3992217"/>
            <a:ext cx="1920240" cy="217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34A1B249-33E2-7818-663A-1B3C489284BD}"/>
              </a:ext>
            </a:extLst>
          </p:cNvPr>
          <p:cNvSpPr/>
          <p:nvPr/>
        </p:nvSpPr>
        <p:spPr>
          <a:xfrm flipH="1">
            <a:off x="3390013" y="4454434"/>
            <a:ext cx="4166832" cy="229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</a:t>
            </a: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https://github.com/pramendraindian/movie-agent</a:t>
            </a:r>
            <a:endParaRPr lang="en-US" sz="13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27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8229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(Intent Classifier)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622989"/>
              </p:ext>
            </p:extLst>
          </p:nvPr>
        </p:nvGraphicFramePr>
        <p:xfrm>
          <a:off x="457200" y="1051560"/>
          <a:ext cx="7440397" cy="1295400"/>
        </p:xfrm>
        <a:graphic>
          <a:graphicData uri="http://schemas.openxmlformats.org/drawingml/2006/table">
            <a:tbl>
              <a:tblPr/>
              <a:tblGrid>
                <a:gridCol w="199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/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(Dense)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vocab_size → hidden_size (8)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Activation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neurons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+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8 neurons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(Softmax via 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num_tags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8117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75098" y="4586326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9" name="Shape 5"/>
          <p:cNvSpPr/>
          <p:nvPr/>
        </p:nvSpPr>
        <p:spPr>
          <a:xfrm>
            <a:off x="454459" y="3140571"/>
            <a:ext cx="32004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6"/>
          <p:cNvSpPr/>
          <p:nvPr/>
        </p:nvSpPr>
        <p:spPr>
          <a:xfrm>
            <a:off x="457200" y="3043550"/>
            <a:ext cx="3291840" cy="52456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 ~99%+</a:t>
            </a:r>
            <a:endParaRPr lang="en-US" sz="1200" dirty="0"/>
          </a:p>
        </p:txBody>
      </p:sp>
      <p:sp>
        <p:nvSpPr>
          <p:cNvPr id="21" name="Shape 7"/>
          <p:cNvSpPr/>
          <p:nvPr/>
        </p:nvSpPr>
        <p:spPr>
          <a:xfrm>
            <a:off x="454459" y="3562808"/>
            <a:ext cx="320040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8"/>
          <p:cNvSpPr/>
          <p:nvPr/>
        </p:nvSpPr>
        <p:spPr>
          <a:xfrm>
            <a:off x="457200" y="3515083"/>
            <a:ext cx="3191975" cy="4808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 200</a:t>
            </a:r>
            <a:endParaRPr lang="en-US" sz="1200" dirty="0"/>
          </a:p>
        </p:txBody>
      </p:sp>
      <p:sp>
        <p:nvSpPr>
          <p:cNvPr id="23" name="Shape 9"/>
          <p:cNvSpPr/>
          <p:nvPr/>
        </p:nvSpPr>
        <p:spPr>
          <a:xfrm>
            <a:off x="448775" y="4052406"/>
            <a:ext cx="3200400" cy="3756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0"/>
          <p:cNvSpPr/>
          <p:nvPr/>
        </p:nvSpPr>
        <p:spPr>
          <a:xfrm>
            <a:off x="457200" y="3957950"/>
            <a:ext cx="3291840" cy="52456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– Decreasing over EPOCHs</a:t>
            </a:r>
            <a:endParaRPr lang="en-US" sz="1200" dirty="0"/>
          </a:p>
        </p:txBody>
      </p:sp>
      <p:sp>
        <p:nvSpPr>
          <p:cNvPr id="25" name="Shape 11"/>
          <p:cNvSpPr/>
          <p:nvPr/>
        </p:nvSpPr>
        <p:spPr>
          <a:xfrm>
            <a:off x="448775" y="4548921"/>
            <a:ext cx="32004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2"/>
          <p:cNvSpPr/>
          <p:nvPr/>
        </p:nvSpPr>
        <p:spPr>
          <a:xfrm>
            <a:off x="448775" y="4522546"/>
            <a:ext cx="3300265" cy="41717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  &lt;200ms</a:t>
            </a:r>
            <a:endParaRPr lang="en-US" sz="12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103BC3BC-2742-DD3B-5E43-DDA076A42715}"/>
              </a:ext>
            </a:extLst>
          </p:cNvPr>
          <p:cNvSpPr/>
          <p:nvPr/>
        </p:nvSpPr>
        <p:spPr>
          <a:xfrm>
            <a:off x="5303520" y="1816448"/>
            <a:ext cx="471309" cy="30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8EA8A15-2EBA-D55B-F443-0BFB0468C5CF}"/>
              </a:ext>
            </a:extLst>
          </p:cNvPr>
          <p:cNvSpPr/>
          <p:nvPr/>
        </p:nvSpPr>
        <p:spPr>
          <a:xfrm>
            <a:off x="5375367" y="2376038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950C1D9C-2AF0-E26A-0005-15F5035A411E}"/>
              </a:ext>
            </a:extLst>
          </p:cNvPr>
          <p:cNvSpPr/>
          <p:nvPr/>
        </p:nvSpPr>
        <p:spPr>
          <a:xfrm>
            <a:off x="6015446" y="2583790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movie data instead of static CSV snapshots</a:t>
            </a:r>
            <a:endParaRPr lang="en-US" sz="10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6FE85B8-6CA7-61CC-4693-F6F5A1784DF1}"/>
              </a:ext>
            </a:extLst>
          </p:cNvPr>
          <p:cNvSpPr/>
          <p:nvPr/>
        </p:nvSpPr>
        <p:spPr>
          <a:xfrm>
            <a:off x="5375367" y="3043550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CF3C6A4E-B079-8FB0-40D7-98F0734E3E1F}"/>
              </a:ext>
            </a:extLst>
          </p:cNvPr>
          <p:cNvSpPr/>
          <p:nvPr/>
        </p:nvSpPr>
        <p:spPr>
          <a:xfrm>
            <a:off x="6015446" y="3251302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Session/persistent state for personalized context</a:t>
            </a:r>
            <a:endParaRPr lang="en-US" sz="10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2B80C62C-47F0-EBE3-534A-9A9A970A3993}"/>
              </a:ext>
            </a:extLst>
          </p:cNvPr>
          <p:cNvSpPr/>
          <p:nvPr/>
        </p:nvSpPr>
        <p:spPr>
          <a:xfrm>
            <a:off x="5375367" y="3711062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0597E4F4-FE4D-1FAB-B201-CC3125316646}"/>
              </a:ext>
            </a:extLst>
          </p:cNvPr>
          <p:cNvSpPr/>
          <p:nvPr/>
        </p:nvSpPr>
        <p:spPr>
          <a:xfrm>
            <a:off x="6015446" y="3918814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predict individual user ratings</a:t>
            </a:r>
            <a:endParaRPr lang="en-US" sz="10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59F983C4-0DB7-F3A1-3429-165507C8FFA3}"/>
              </a:ext>
            </a:extLst>
          </p:cNvPr>
          <p:cNvSpPr/>
          <p:nvPr/>
        </p:nvSpPr>
        <p:spPr>
          <a:xfrm>
            <a:off x="5375367" y="4378574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030AFB-9FC6-B252-CC74-C2660F706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906" y="3151473"/>
            <a:ext cx="4048690" cy="17242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E99EC-4BDD-15DE-8B49-674433CD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03D49E-F5CA-4FA0-A2BB-8D430751D8A3}"/>
              </a:ext>
            </a:extLst>
          </p:cNvPr>
          <p:cNvSpPr/>
          <p:nvPr/>
        </p:nvSpPr>
        <p:spPr>
          <a:xfrm>
            <a:off x="545898" y="377037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6E2E5E-EBC1-8B42-5C45-2A4F0876B5BA}"/>
              </a:ext>
            </a:extLst>
          </p:cNvPr>
          <p:cNvSpPr/>
          <p:nvPr/>
        </p:nvSpPr>
        <p:spPr>
          <a:xfrm>
            <a:off x="457200" y="848510"/>
            <a:ext cx="4467497" cy="554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72A6A62-C017-1552-27F7-7B31F9F62839}"/>
              </a:ext>
            </a:extLst>
          </p:cNvPr>
          <p:cNvSpPr/>
          <p:nvPr/>
        </p:nvSpPr>
        <p:spPr>
          <a:xfrm>
            <a:off x="5575098" y="4586326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F59C756-D0A3-EDC5-A5BC-DE2DE9DC3381}"/>
              </a:ext>
            </a:extLst>
          </p:cNvPr>
          <p:cNvSpPr/>
          <p:nvPr/>
        </p:nvSpPr>
        <p:spPr>
          <a:xfrm>
            <a:off x="457200" y="3043550"/>
            <a:ext cx="3291840" cy="52456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   ~95%+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98CF6F4-E3DD-DB3B-71A0-1B3DE9F7B06F}"/>
              </a:ext>
            </a:extLst>
          </p:cNvPr>
          <p:cNvSpPr/>
          <p:nvPr/>
        </p:nvSpPr>
        <p:spPr>
          <a:xfrm>
            <a:off x="457200" y="3515083"/>
            <a:ext cx="3191975" cy="4808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(CE)   ↓ over epochs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8433FC5-5A59-48CB-BFEE-83F506F8783E}"/>
              </a:ext>
            </a:extLst>
          </p:cNvPr>
          <p:cNvSpPr/>
          <p:nvPr/>
        </p:nvSpPr>
        <p:spPr>
          <a:xfrm>
            <a:off x="457200" y="3957950"/>
            <a:ext cx="3291840" cy="52456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Precision   Genre-matched</a:t>
            </a:r>
            <a:endParaRPr lang="en-US" sz="12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CBD3525-8A00-2A1D-E247-68D2FE3A9928}"/>
              </a:ext>
            </a:extLst>
          </p:cNvPr>
          <p:cNvSpPr/>
          <p:nvPr/>
        </p:nvSpPr>
        <p:spPr>
          <a:xfrm>
            <a:off x="5375367" y="1041014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5AF0972-89F1-AA75-DABD-24DA619EA573}"/>
              </a:ext>
            </a:extLst>
          </p:cNvPr>
          <p:cNvSpPr/>
          <p:nvPr/>
        </p:nvSpPr>
        <p:spPr>
          <a:xfrm>
            <a:off x="6015446" y="1248766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aggregated user ratings and watch history</a:t>
            </a:r>
            <a:endParaRPr lang="en-US" sz="10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347EA088-DE03-8BD3-8BF7-5CADC9FB68EE}"/>
              </a:ext>
            </a:extLst>
          </p:cNvPr>
          <p:cNvSpPr/>
          <p:nvPr/>
        </p:nvSpPr>
        <p:spPr>
          <a:xfrm>
            <a:off x="5375367" y="1708526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3844C97-2A88-C776-A1BB-73B0F7FD335B}"/>
              </a:ext>
            </a:extLst>
          </p:cNvPr>
          <p:cNvSpPr/>
          <p:nvPr/>
        </p:nvSpPr>
        <p:spPr>
          <a:xfrm>
            <a:off x="5375367" y="2376038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3498C176-6BC6-4345-702D-6D633507B46C}"/>
              </a:ext>
            </a:extLst>
          </p:cNvPr>
          <p:cNvSpPr/>
          <p:nvPr/>
        </p:nvSpPr>
        <p:spPr>
          <a:xfrm>
            <a:off x="6015446" y="2583790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movie data instead of static CSV snapshots</a:t>
            </a:r>
            <a:endParaRPr lang="en-US" sz="10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FE3937ED-387A-FCA1-D0A1-02FD4A1EB7D1}"/>
              </a:ext>
            </a:extLst>
          </p:cNvPr>
          <p:cNvSpPr/>
          <p:nvPr/>
        </p:nvSpPr>
        <p:spPr>
          <a:xfrm>
            <a:off x="5375367" y="3043550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C658BD8E-AC6F-5F0B-1429-1790941F0D48}"/>
              </a:ext>
            </a:extLst>
          </p:cNvPr>
          <p:cNvSpPr/>
          <p:nvPr/>
        </p:nvSpPr>
        <p:spPr>
          <a:xfrm>
            <a:off x="6015446" y="3251302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Session/persistent state for personalized context</a:t>
            </a:r>
            <a:endParaRPr lang="en-US" sz="10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28DC642-D709-161B-E7F7-7ABD69822051}"/>
              </a:ext>
            </a:extLst>
          </p:cNvPr>
          <p:cNvSpPr/>
          <p:nvPr/>
        </p:nvSpPr>
        <p:spPr>
          <a:xfrm>
            <a:off x="5375367" y="3711062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692DAE0E-72E6-82E5-E0D5-EC9D816DEC4B}"/>
              </a:ext>
            </a:extLst>
          </p:cNvPr>
          <p:cNvSpPr/>
          <p:nvPr/>
        </p:nvSpPr>
        <p:spPr>
          <a:xfrm>
            <a:off x="6015446" y="3918814"/>
            <a:ext cx="2614661" cy="18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predict individual user ratings</a:t>
            </a:r>
            <a:endParaRPr lang="en-US" sz="10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310F475C-1620-EFC8-9A8D-806D76D3FC6D}"/>
              </a:ext>
            </a:extLst>
          </p:cNvPr>
          <p:cNvSpPr/>
          <p:nvPr/>
        </p:nvSpPr>
        <p:spPr>
          <a:xfrm>
            <a:off x="5375367" y="4378574"/>
            <a:ext cx="399462" cy="41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FD66B-81E9-61A2-D94B-69AAA03B4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0" y="991798"/>
            <a:ext cx="4467497" cy="3831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B56545-903F-109A-5DAA-419E15CE7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507" y="82634"/>
            <a:ext cx="3775689" cy="474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8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6BC9A-281E-B13A-2558-B700A593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E2D722B-E779-7A61-9515-14E0DFF2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16052"/>
            <a:ext cx="8968902" cy="391139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837B076-8A5F-E95C-9E8B-A16BFAAAC0F0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7107783-38D3-6250-8392-80E4729C12BF}"/>
              </a:ext>
            </a:extLst>
          </p:cNvPr>
          <p:cNvSpPr/>
          <p:nvPr/>
        </p:nvSpPr>
        <p:spPr>
          <a:xfrm>
            <a:off x="329184" y="1608930"/>
            <a:ext cx="4989576" cy="661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6F82EC2-0078-DA32-5A99-A25D0260DE5D}"/>
              </a:ext>
            </a:extLst>
          </p:cNvPr>
          <p:cNvSpPr/>
          <p:nvPr/>
        </p:nvSpPr>
        <p:spPr>
          <a:xfrm>
            <a:off x="4450080" y="2886811"/>
            <a:ext cx="1704286" cy="36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CCF5F7C-6F0D-2DF6-5549-4814E0AA8A5E}"/>
              </a:ext>
            </a:extLst>
          </p:cNvPr>
          <p:cNvSpPr/>
          <p:nvPr/>
        </p:nvSpPr>
        <p:spPr>
          <a:xfrm>
            <a:off x="448704" y="2051918"/>
            <a:ext cx="5705662" cy="555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210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381</Words>
  <Application>Microsoft Office PowerPoint</Application>
  <PresentationFormat>On-screen Show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Anthropic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Chatbot</dc:title>
  <dc:subject>PptxGenJS Presentation</dc:subject>
  <dc:creator>PptxGenJS</dc:creator>
  <cp:lastModifiedBy>pramendra.copilot@gmail.com</cp:lastModifiedBy>
  <cp:revision>30</cp:revision>
  <dcterms:created xsi:type="dcterms:W3CDTF">2026-06-06T10:28:31Z</dcterms:created>
  <dcterms:modified xsi:type="dcterms:W3CDTF">2026-06-12T07:08:59Z</dcterms:modified>
</cp:coreProperties>
</file>