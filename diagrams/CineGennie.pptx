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5"/>
          <c:h val="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4E-4712-9B1F-546E35A9291F}"/>
              </c:ext>
            </c:extLst>
          </c:dPt>
          <c:dPt>
            <c:idx val="1"/>
            <c:bubble3D val="0"/>
            <c:spPr>
              <a:solidFill>
                <a:srgbClr val="457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4E-4712-9B1F-546E35A9291F}"/>
              </c:ext>
            </c:extLst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4E-4712-9B1F-546E35A9291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4E-4712-9B1F-546E35A9291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4E-4712-9B1F-546E35A9291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4E-4712-9B1F-546E35A9291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 (70%)</c:v>
                </c:pt>
                <c:pt idx="1">
                  <c:v>Validation (15%)</c:v>
                </c:pt>
                <c:pt idx="2">
                  <c:v>Test (15%)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4E-4712-9B1F-546E35A92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1FA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200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2.8</c:v>
                </c:pt>
                <c:pt idx="1">
                  <c:v>1.9</c:v>
                </c:pt>
                <c:pt idx="2">
                  <c:v>1.2</c:v>
                </c:pt>
                <c:pt idx="3">
                  <c:v>0.7</c:v>
                </c:pt>
                <c:pt idx="4">
                  <c:v>0.42</c:v>
                </c:pt>
                <c:pt idx="5">
                  <c:v>0.28000000000000003</c:v>
                </c:pt>
                <c:pt idx="6">
                  <c:v>0.18</c:v>
                </c:pt>
                <c:pt idx="7">
                  <c:v>0.12</c:v>
                </c:pt>
                <c:pt idx="8">
                  <c:v>0.08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00A-461A-8BBC-8FF7E1361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Greeting</c:v>
                </c:pt>
                <c:pt idx="1">
                  <c:v>Movie Rec</c:v>
                </c:pt>
                <c:pt idx="2">
                  <c:v>Genre</c:v>
                </c:pt>
                <c:pt idx="3">
                  <c:v>Search</c:v>
                </c:pt>
                <c:pt idx="4">
                  <c:v>Trending</c:v>
                </c:pt>
                <c:pt idx="5">
                  <c:v>Top Rated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95</c:v>
                </c:pt>
                <c:pt idx="2">
                  <c:v>93</c:v>
                </c:pt>
                <c:pt idx="3">
                  <c:v>91</c:v>
                </c:pt>
                <c:pt idx="4">
                  <c:v>96</c:v>
                </c:pt>
                <c:pt idx="5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E1-43E1-9270-34B6E4E22A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754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A95C-A2AF-A341-C1C3-0520F77E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A694A-1D95-E10D-C540-A320C1F13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EDB3B-4902-DA25-E054-A22421A14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9A2ED-CD2A-26E0-CA73-C5A97E752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16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F840273-607E-E687-1E05-27A0F16C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327"/>
            <a:ext cx="8968902" cy="329084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48704" y="1259797"/>
            <a:ext cx="42055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CineGenie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48704" y="1877957"/>
            <a:ext cx="517835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. Discover . Watch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48704" y="2337654"/>
            <a:ext cx="5705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Architecture · Intent Classification · LLM Fallback · TMDB Integration</a:t>
            </a:r>
            <a:endParaRPr lang="en-US" sz="1400" dirty="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F329B589-9821-B525-2342-60DEF7653A2C}"/>
              </a:ext>
            </a:extLst>
          </p:cNvPr>
          <p:cNvSpPr/>
          <p:nvPr/>
        </p:nvSpPr>
        <p:spPr>
          <a:xfrm>
            <a:off x="220494" y="3541579"/>
            <a:ext cx="3644630" cy="467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github.com/pramendraindian/movie-agent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47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657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02920" y="1161288"/>
            <a:ext cx="34747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face decision fatigue choosing from 500,000+ movies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965960"/>
            <a:ext cx="3657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029968"/>
            <a:ext cx="34747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search tools lack intent understanding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3657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" y="2898648"/>
            <a:ext cx="34747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interface combining natural language + smart recommendations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703320"/>
            <a:ext cx="3657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02920" y="3767328"/>
            <a:ext cx="34747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bots lack genre-aware &amp; context-aware dialogue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4572000"/>
            <a:ext cx="36576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11480" y="4590288"/>
            <a:ext cx="356616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Conversational bot that understands intent &amp; delivers tailored movie picks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4747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347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05840"/>
          <a:ext cx="4297680" cy="2834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/ TMDB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TMDB Movies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930,000+ movies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+ API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Genre, Rating, Popularity, Overview, Keywords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Deduplicate, fill nulls, normalize numerics, filter invalid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457200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0" y="4206240"/>
          <a:ext cx="429768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896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(PyTorch NLP)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207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NeuralNet trained on patterns from intents.json. Bag-of-words + NLTK stemming. Adam optimizer, CrossEntropyLoss, 200 epochs.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393192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901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" y="2212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on genres, keywords, overview. Cosine similarity for finding similar movies.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393192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17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Trend Filtering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0584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sorting by rating &amp; popularity. Supports 10+ genre intents including action, drama, sci-fi, horror.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3840480"/>
            <a:ext cx="393192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233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 (OpenAI)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05840" y="4224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intent confidence is low, query is escalated to OpenAI for general-purpose response.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572000" y="777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0" y="1170432"/>
            <a:ext cx="4297680" cy="402336"/>
          </a:xfrm>
          <a:prstGeom prst="rect">
            <a:avLst/>
          </a:prstGeom>
          <a:solidFill>
            <a:srgbClr val="457B9D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4709160" y="1216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583680" y="1572768"/>
            <a:ext cx="3657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4572000" y="1700784"/>
            <a:ext cx="429768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709160" y="17465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/ FastAPI /chat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583680" y="2103120"/>
            <a:ext cx="3657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572000" y="2231136"/>
            <a:ext cx="429768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4709160" y="22768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 (NLTK tokenize, stem, BoW)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583680" y="2633472"/>
            <a:ext cx="3657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4572000" y="2761488"/>
            <a:ext cx="4297680" cy="402336"/>
          </a:xfrm>
          <a:prstGeom prst="rect">
            <a:avLst/>
          </a:prstGeom>
          <a:solidFill>
            <a:srgbClr val="E63946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4709160" y="2807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 (NeuralNet · PyTorch)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583680" y="3163824"/>
            <a:ext cx="3657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4572000" y="3291840"/>
            <a:ext cx="4297680" cy="402336"/>
          </a:xfrm>
          <a:prstGeom prst="rect">
            <a:avLst/>
          </a:prstGeom>
          <a:solidFill>
            <a:srgbClr val="0D9488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470916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(TF-IDF · Cosine Sim)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583680" y="3694176"/>
            <a:ext cx="3657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4572000" y="3822192"/>
            <a:ext cx="429768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4709160" y="3867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/ LLM Fallback (OpenAI)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583680" y="4224528"/>
            <a:ext cx="3657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4572000" y="4352544"/>
            <a:ext cx="4297680" cy="402336"/>
          </a:xfrm>
          <a:prstGeom prst="rect">
            <a:avLst/>
          </a:prstGeom>
          <a:solidFill>
            <a:srgbClr val="457B9D"/>
          </a:solidFill>
          <a:ln w="63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4"/>
          <p:cNvSpPr/>
          <p:nvPr/>
        </p:nvSpPr>
        <p:spPr>
          <a:xfrm>
            <a:off x="4709160" y="43982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User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B3C3D-D723-308D-98FB-5F0AE2E6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4BA0E9-C90E-AFE9-08B9-D544388C005D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Architecture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A076C-E7B1-05D5-65F6-41AD4EF38C81}"/>
              </a:ext>
            </a:extLst>
          </p:cNvPr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5E6215F-D919-BA90-BF7E-FE7CC87D50BD}"/>
              </a:ext>
            </a:extLst>
          </p:cNvPr>
          <p:cNvSpPr/>
          <p:nvPr/>
        </p:nvSpPr>
        <p:spPr>
          <a:xfrm>
            <a:off x="1005840" y="1207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9FE196-97D1-5AE4-CD31-D776C7D6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038" y="768096"/>
            <a:ext cx="6712783" cy="4302252"/>
          </a:xfrm>
          <a:prstGeom prst="rect">
            <a:avLst/>
          </a:prstGeom>
        </p:spPr>
      </p:pic>
      <p:sp>
        <p:nvSpPr>
          <p:cNvPr id="42" name="Shape 5">
            <a:extLst>
              <a:ext uri="{FF2B5EF4-FFF2-40B4-BE49-F238E27FC236}">
                <a16:creationId xmlns:a16="http://schemas.microsoft.com/office/drawing/2014/main" id="{90DB9CBB-F828-0DB0-62C4-AB339142C877}"/>
              </a:ext>
            </a:extLst>
          </p:cNvPr>
          <p:cNvSpPr/>
          <p:nvPr/>
        </p:nvSpPr>
        <p:spPr>
          <a:xfrm>
            <a:off x="104248" y="783529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608503A0-5641-9C3E-EC7E-C282416BB9DA}"/>
              </a:ext>
            </a:extLst>
          </p:cNvPr>
          <p:cNvSpPr/>
          <p:nvPr/>
        </p:nvSpPr>
        <p:spPr>
          <a:xfrm>
            <a:off x="-158885" y="966409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C795FAB2-B182-B7FB-A3CC-25E0E8DA49FB}"/>
              </a:ext>
            </a:extLst>
          </p:cNvPr>
          <p:cNvSpPr/>
          <p:nvPr/>
        </p:nvSpPr>
        <p:spPr>
          <a:xfrm>
            <a:off x="-158885" y="128644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54890BD7-079B-9F72-FFB7-7FEA34FFB72A}"/>
              </a:ext>
            </a:extLst>
          </p:cNvPr>
          <p:cNvSpPr/>
          <p:nvPr/>
        </p:nvSpPr>
        <p:spPr>
          <a:xfrm>
            <a:off x="104248" y="1641056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F11AD60F-CD7A-ACD8-9416-AD32DADAC2CD}"/>
              </a:ext>
            </a:extLst>
          </p:cNvPr>
          <p:cNvSpPr/>
          <p:nvPr/>
        </p:nvSpPr>
        <p:spPr>
          <a:xfrm>
            <a:off x="104248" y="16593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1EEEEC85-3398-87AE-AB65-F691710E62B5}"/>
              </a:ext>
            </a:extLst>
          </p:cNvPr>
          <p:cNvSpPr/>
          <p:nvPr/>
        </p:nvSpPr>
        <p:spPr>
          <a:xfrm>
            <a:off x="104248" y="2070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Model</a:t>
            </a:r>
            <a:endParaRPr lang="en-US" sz="10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084B4199-5718-9139-DBA0-C0B2F950395F}"/>
              </a:ext>
            </a:extLst>
          </p:cNvPr>
          <p:cNvSpPr/>
          <p:nvPr/>
        </p:nvSpPr>
        <p:spPr>
          <a:xfrm>
            <a:off x="104248" y="2571750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28380BB8-E124-6E8D-3C29-15F36904563B}"/>
              </a:ext>
            </a:extLst>
          </p:cNvPr>
          <p:cNvSpPr/>
          <p:nvPr/>
        </p:nvSpPr>
        <p:spPr>
          <a:xfrm>
            <a:off x="104248" y="25900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68BFC962-F2A4-E77F-C268-419656C73E1A}"/>
              </a:ext>
            </a:extLst>
          </p:cNvPr>
          <p:cNvSpPr/>
          <p:nvPr/>
        </p:nvSpPr>
        <p:spPr>
          <a:xfrm>
            <a:off x="104248" y="300151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8CC44486-2B04-F46C-9E3F-C66D275921A8}"/>
              </a:ext>
            </a:extLst>
          </p:cNvPr>
          <p:cNvSpPr/>
          <p:nvPr/>
        </p:nvSpPr>
        <p:spPr>
          <a:xfrm>
            <a:off x="45720" y="3634642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2319F2FD-D31B-B8A2-C267-D5BB819EF520}"/>
              </a:ext>
            </a:extLst>
          </p:cNvPr>
          <p:cNvSpPr/>
          <p:nvPr/>
        </p:nvSpPr>
        <p:spPr>
          <a:xfrm>
            <a:off x="45720" y="365526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4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548A91EA-96AA-9F54-BC97-99783ED52564}"/>
              </a:ext>
            </a:extLst>
          </p:cNvPr>
          <p:cNvSpPr/>
          <p:nvPr/>
        </p:nvSpPr>
        <p:spPr>
          <a:xfrm>
            <a:off x="45720" y="4066745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3927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Details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8229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 (Intent Classifier)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029200" cy="1691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/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(Dense)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vocab_size → hidden_size (8)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Activation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neurons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+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8 neurons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(Softmax via 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num_tags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Training Config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72968"/>
          <a:ext cx="5029200" cy="1813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(lr = 0.001)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neurons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Max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0" y="713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78992"/>
            <a:ext cx="32004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760720" y="1106424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   ~95%+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0" y="1536192"/>
            <a:ext cx="3200400" cy="365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760720" y="1563624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(CE)   ↓ over epochs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0" y="1993392"/>
            <a:ext cx="320040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760720" y="2020824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Precision   Genre-matched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0" y="2450592"/>
            <a:ext cx="320040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760720" y="2478024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  &lt;200ms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66928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Techniques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669280" y="3310128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 (lazy data loading)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 caching (startup speed)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Min-vote threshold (quality filter)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stemming (vocabulary compression)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 modular layout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8229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9202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749808"/>
            <a:ext cx="19202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930K+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6040" y="1216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Indexed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19202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216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749808"/>
            <a:ext cx="192024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1216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(Simulated) — CrossEntropyLoss over 200 Epochs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196596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75488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 Accuracy by Category</a:t>
            </a:r>
            <a:endParaRPr lang="en-US" sz="11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4754880" y="196596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What Worked Well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intent classifier converges well with stemmed BoW features. Singleton caching prevents reload overhead. Genre keyword matching covers 10+ intents. TF-IDF cosine similarity captures semantic movie likeness.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Limitations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collaborative filtering (no user history). Cold-start problem for new genres. LLM fallback depends on external API key availability.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47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0058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2527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aggregated user ratings and watch history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6733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1920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content-based + collaborative + trending signals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340864"/>
            <a:ext cx="502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0040" y="2340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34086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TMDB API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movie data instead of static CSV snapshots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008376"/>
            <a:ext cx="502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2004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300837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Memory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60120" y="32552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Session/persistent state for personalized context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3675888"/>
            <a:ext cx="502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2004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367588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Prediction ML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predict individual user ratings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4343400"/>
            <a:ext cx="502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200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60120" y="43434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0120" y="4590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recommend by language and regional content</a:t>
            </a:r>
            <a:endParaRPr lang="en-US" sz="10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0040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86400" y="347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4754880" y="960120"/>
            <a:ext cx="4114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 Recommendation Chatbot successfully demonstrates a practical Hybrid AI Architecture combining lightweight NLP intent classification with multiple recommendation strategies.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754880" y="192024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 achieves ~95%+ accuracy across 6+ categories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delivers relevant content-based picks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930,000+ TMDB movies available for recommendations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is production-ready and Docker-friendly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provides a clean conversational experience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 (OpenAI) handles out-of-scope queries gracefully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54880" y="4297680"/>
            <a:ext cx="4114800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4800600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github.com/pramendraindian/movie-agent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664</Words>
  <Application>Microsoft Office PowerPoint</Application>
  <PresentationFormat>On-screen Show (16:9)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Chatbot</dc:title>
  <dc:subject>PptxGenJS Presentation</dc:subject>
  <dc:creator>PptxGenJS</dc:creator>
  <cp:lastModifiedBy>pramendra.copilot@gmail.com</cp:lastModifiedBy>
  <cp:revision>2</cp:revision>
  <dcterms:created xsi:type="dcterms:W3CDTF">2026-06-06T10:28:31Z</dcterms:created>
  <dcterms:modified xsi:type="dcterms:W3CDTF">2026-06-06T11:22:33Z</dcterms:modified>
</cp:coreProperties>
</file>